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6858000" cx="12192000"/>
  <p:notesSz cx="6858000" cy="9144000"/>
  <p:embeddedFontLst>
    <p:embeddedFont>
      <p:font typeface="Urbanist SemiBold"/>
      <p:regular r:id="rId16"/>
      <p:bold r:id="rId17"/>
      <p:italic r:id="rId18"/>
      <p:boldItalic r:id="rId19"/>
    </p:embeddedFont>
    <p:embeddedFont>
      <p:font typeface="Urbanist"/>
      <p:regular r:id="rId20"/>
      <p:bold r:id="rId21"/>
      <p:italic r:id="rId22"/>
      <p:boldItalic r:id="rId23"/>
    </p:embeddedFont>
    <p:embeddedFont>
      <p:font typeface="DM Sans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9AE275B-C38A-46AA-A101-454E4AA1A0C5}">
  <a:tblStyle styleId="{29AE275B-C38A-46AA-A101-454E4AA1A0C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-regular.fntdata"/><Relationship Id="rId22" Type="http://schemas.openxmlformats.org/officeDocument/2006/relationships/font" Target="fonts/Urbanist-italic.fntdata"/><Relationship Id="rId21" Type="http://schemas.openxmlformats.org/officeDocument/2006/relationships/font" Target="fonts/Urbanist-bold.fntdata"/><Relationship Id="rId24" Type="http://schemas.openxmlformats.org/officeDocument/2006/relationships/font" Target="fonts/DMSans-regular.fntdata"/><Relationship Id="rId23" Type="http://schemas.openxmlformats.org/officeDocument/2006/relationships/font" Target="fonts/Urbanist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DMSans-italic.fntdata"/><Relationship Id="rId25" Type="http://schemas.openxmlformats.org/officeDocument/2006/relationships/font" Target="fonts/DMSans-bold.fntdata"/><Relationship Id="rId27" Type="http://schemas.openxmlformats.org/officeDocument/2006/relationships/font" Target="fonts/DMSans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UrbanistSemiBold-bold.fntdata"/><Relationship Id="rId16" Type="http://schemas.openxmlformats.org/officeDocument/2006/relationships/font" Target="fonts/UrbanistSemiBold-regular.fntdata"/><Relationship Id="rId19" Type="http://schemas.openxmlformats.org/officeDocument/2006/relationships/font" Target="fonts/UrbanistSemiBold-boldItalic.fntdata"/><Relationship Id="rId18" Type="http://schemas.openxmlformats.org/officeDocument/2006/relationships/font" Target="fonts/UrbanistSemiBold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5.png"/><Relationship Id="rId9" Type="http://schemas.openxmlformats.org/officeDocument/2006/relationships/image" Target="../media/image1.png"/><Relationship Id="rId5" Type="http://schemas.openxmlformats.org/officeDocument/2006/relationships/image" Target="../media/image12.png"/><Relationship Id="rId6" Type="http://schemas.openxmlformats.org/officeDocument/2006/relationships/image" Target="../media/image16.png"/><Relationship Id="rId7" Type="http://schemas.openxmlformats.org/officeDocument/2006/relationships/image" Target="../media/image7.png"/><Relationship Id="rId8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14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71500" y="1950690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NEXT-GEN FOOTBALL ANALYTICS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95275" y="2544960"/>
            <a:ext cx="11601450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0E676"/>
                </a:solidFill>
                <a:latin typeface="Urbanist"/>
                <a:ea typeface="Urbanist"/>
                <a:cs typeface="Urbanist"/>
                <a:sym typeface="Urbanist"/>
              </a:rPr>
              <a:t>Premier League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60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Global Analytics Platform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460236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Project Vision: Bridging Global Fans with National Heroes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/>
          <p:nvPr/>
        </p:nvSpPr>
        <p:spPr>
          <a:xfrm>
            <a:off x="5619750" y="2676525"/>
            <a:ext cx="952500" cy="38100"/>
          </a:xfrm>
          <a:prstGeom prst="rect">
            <a:avLst/>
          </a:prstGeom>
          <a:solidFill>
            <a:srgbClr val="3D5A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295275" y="3000375"/>
            <a:ext cx="11601450" cy="1466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01. Platform Mission &amp;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8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Value Proposition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9" name="Google Shape;9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19325"/>
            <a:ext cx="3492549" cy="3352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219325"/>
            <a:ext cx="3492549" cy="3352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219325"/>
            <a:ext cx="3492549" cy="3352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89100" y="260985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894237" y="3257550"/>
            <a:ext cx="284707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Global Archiving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962025" y="3771900"/>
            <a:ext cx="271149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Tracking the legacy of </a:t>
            </a:r>
            <a:r>
              <a:rPr b="1" i="0" lang="en-US" sz="1500" u="none" cap="none" strike="noStrike">
                <a:solidFill>
                  <a:srgbClr val="00E676"/>
                </a:solidFill>
                <a:latin typeface="DM Sans"/>
                <a:ea typeface="DM Sans"/>
                <a:cs typeface="DM Sans"/>
                <a:sym typeface="DM Sans"/>
              </a:rPr>
              <a:t>100+ nationalities</a:t>
            </a:r>
            <a:r>
              <a:rPr b="0" i="0" lang="en-US" sz="1500" u="none" cap="none" strike="noStrik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 that have graced the English top flight since 1992.</a:t>
            </a:r>
            <a:endParaRPr/>
          </a:p>
        </p:txBody>
      </p:sp>
      <p:pic>
        <p:nvPicPr>
          <p:cNvPr descr="image.png" id="106" name="Google Shape;106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67400" y="260985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/>
          <p:nvPr/>
        </p:nvSpPr>
        <p:spPr>
          <a:xfrm>
            <a:off x="4672537" y="3257550"/>
            <a:ext cx="284707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Live Data Fidelity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4740324" y="3771900"/>
            <a:ext cx="27114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Integration with </a:t>
            </a:r>
            <a:r>
              <a:rPr b="1" i="0" lang="en-US" sz="1500" u="none" cap="none" strike="noStrike">
                <a:solidFill>
                  <a:srgbClr val="00E676"/>
                </a:solidFill>
                <a:latin typeface="DM Sans"/>
                <a:ea typeface="DM Sans"/>
                <a:cs typeface="DM Sans"/>
                <a:sym typeface="DM Sans"/>
              </a:rPr>
              <a:t>API-Football</a:t>
            </a:r>
            <a:r>
              <a:rPr b="0" i="0" lang="en-US" sz="1500" u="none" cap="none" strike="noStrik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 for real-time match stats, goals, and assist updates.</a:t>
            </a:r>
            <a:endParaRPr/>
          </a:p>
        </p:txBody>
      </p:sp>
      <p:pic>
        <p:nvPicPr>
          <p:cNvPr descr="image.png" id="109" name="Google Shape;109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588549" y="2609850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8450836" y="3257550"/>
            <a:ext cx="284707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Fan Synergy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8518624" y="3771900"/>
            <a:ext cx="27114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Providing a dedicated space for </a:t>
            </a:r>
            <a:r>
              <a:rPr b="1" i="0" lang="en-US" sz="1500" u="none" cap="none" strike="noStrike">
                <a:solidFill>
                  <a:srgbClr val="00E676"/>
                </a:solidFill>
                <a:latin typeface="DM Sans"/>
                <a:ea typeface="DM Sans"/>
                <a:cs typeface="DM Sans"/>
                <a:sym typeface="DM Sans"/>
              </a:rPr>
              <a:t>national fanbases</a:t>
            </a:r>
            <a:r>
              <a:rPr b="0" i="0" lang="en-US" sz="1500" u="none" cap="none" strike="noStrik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 to track their specific local stars.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CORE PROJECT OBJECTIVES</a:t>
            </a:r>
            <a:endParaRPr/>
          </a:p>
        </p:txBody>
      </p:sp>
      <p:sp>
        <p:nvSpPr>
          <p:cNvPr id="113" name="Google Shape;113;p15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8" name="Google Shape;11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9" name="Google Shape;119;p16"/>
          <p:cNvGraphicFramePr/>
          <p:nvPr/>
        </p:nvGraphicFramePr>
        <p:xfrm>
          <a:off x="571500" y="249078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{29AE275B-C38A-46AA-A101-454E4AA1A0C5}</a:tableStyleId>
              </a:tblPr>
              <a:tblGrid>
                <a:gridCol w="2477700"/>
                <a:gridCol w="4670825"/>
                <a:gridCol w="3900475"/>
              </a:tblGrid>
              <a:tr h="60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00E676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Navigation Menu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00E676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Core Functionality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00E676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User Value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CBD5E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Players by Nation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Continental &amp; Flag-based Filtering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Easy discovery of local heroes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CBD5E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Dynamic Rankings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Live Leaderboards (Goals/Assists/Clean Sheets)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Competitive performance analysis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CBD5E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Club Distribution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Nationality breakdown by EPL squad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Scouting &amp; tactical diversity insights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CBD5E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Fan Community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Rating boards &amp; Match-day reviews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Social engagement &amp; collective scoring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0" name="Google Shape;120;p16"/>
          <p:cNvSpPr/>
          <p:nvPr/>
        </p:nvSpPr>
        <p:spPr>
          <a:xfrm>
            <a:off x="571500" y="3705225"/>
            <a:ext cx="247769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6"/>
          <p:cNvSpPr/>
          <p:nvPr/>
        </p:nvSpPr>
        <p:spPr>
          <a:xfrm>
            <a:off x="3049190" y="3705225"/>
            <a:ext cx="4670821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6"/>
          <p:cNvSpPr/>
          <p:nvPr/>
        </p:nvSpPr>
        <p:spPr>
          <a:xfrm>
            <a:off x="7720012" y="3705225"/>
            <a:ext cx="3900487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571500" y="4295775"/>
            <a:ext cx="247769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6"/>
          <p:cNvSpPr/>
          <p:nvPr/>
        </p:nvSpPr>
        <p:spPr>
          <a:xfrm>
            <a:off x="3049190" y="4295775"/>
            <a:ext cx="4670821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6"/>
          <p:cNvSpPr/>
          <p:nvPr/>
        </p:nvSpPr>
        <p:spPr>
          <a:xfrm>
            <a:off x="7720012" y="4295775"/>
            <a:ext cx="3900487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6"/>
          <p:cNvSpPr/>
          <p:nvPr/>
        </p:nvSpPr>
        <p:spPr>
          <a:xfrm>
            <a:off x="571500" y="4886325"/>
            <a:ext cx="247769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6"/>
          <p:cNvSpPr/>
          <p:nvPr/>
        </p:nvSpPr>
        <p:spPr>
          <a:xfrm>
            <a:off x="3049190" y="4886325"/>
            <a:ext cx="4670821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6"/>
          <p:cNvSpPr/>
          <p:nvPr/>
        </p:nvSpPr>
        <p:spPr>
          <a:xfrm>
            <a:off x="7720012" y="4886325"/>
            <a:ext cx="3900487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/>
          <p:nvPr/>
        </p:nvSpPr>
        <p:spPr>
          <a:xfrm>
            <a:off x="571500" y="5476875"/>
            <a:ext cx="2477690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6"/>
          <p:cNvSpPr/>
          <p:nvPr/>
        </p:nvSpPr>
        <p:spPr>
          <a:xfrm>
            <a:off x="3049190" y="5476875"/>
            <a:ext cx="4670821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/>
          <p:nvPr/>
        </p:nvSpPr>
        <p:spPr>
          <a:xfrm>
            <a:off x="7720012" y="5476875"/>
            <a:ext cx="3900487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INFORMATION ARCHITECTURE</a:t>
            </a:r>
            <a:endParaRPr/>
          </a:p>
        </p:txBody>
      </p:sp>
      <p:sp>
        <p:nvSpPr>
          <p:cNvPr id="133" name="Google Shape;133;p16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8" name="Google Shape;13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04950"/>
            <a:ext cx="11049000" cy="478155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/>
        </p:nvSpPr>
        <p:spPr>
          <a:xfrm>
            <a:off x="571500" y="4959697"/>
            <a:ext cx="110490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*Historical data provided for illustrative platform benchmarking.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EPL GOALS BY NATIONALITY (ALL-TIME)</a:t>
            </a:r>
            <a:endParaRPr/>
          </a:p>
        </p:txBody>
      </p:sp>
      <p:sp>
        <p:nvSpPr>
          <p:cNvPr id="142" name="Google Shape;142;p17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7" name="Google Shape;14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990725"/>
            <a:ext cx="5334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96025" y="2000250"/>
            <a:ext cx="531495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8"/>
          <p:cNvSpPr txBox="1"/>
          <p:nvPr/>
        </p:nvSpPr>
        <p:spPr>
          <a:xfrm>
            <a:off x="571500" y="2143125"/>
            <a:ext cx="5334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90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E676"/>
                </a:solidFill>
                <a:latin typeface="DM Sans"/>
                <a:ea typeface="DM Sans"/>
                <a:cs typeface="DM Sans"/>
                <a:sym typeface="DM Sans"/>
              </a:rPr>
              <a:t>Son Heung-min (Spurs):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 Over 110 EPL goals and the first Asian Golden Boot winner.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571500" y="2990850"/>
            <a:ext cx="5334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E676"/>
                </a:solidFill>
                <a:latin typeface="DM Sans"/>
                <a:ea typeface="DM Sans"/>
                <a:cs typeface="DM Sans"/>
                <a:sym typeface="DM Sans"/>
              </a:rPr>
              <a:t>Hwang Hee-chan (Wolves):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 A rising force with double-digit goals in 23/24 season.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571500" y="3838575"/>
            <a:ext cx="5334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Our platform enables deep-dive analytics into these </a:t>
            </a:r>
            <a:r>
              <a:rPr b="1" i="0" lang="en-US" sz="1500" u="none" cap="none" strike="noStrike">
                <a:solidFill>
                  <a:srgbClr val="00E676"/>
                </a:solidFill>
                <a:latin typeface="DM Sans"/>
                <a:ea typeface="DM Sans"/>
                <a:cs typeface="DM Sans"/>
                <a:sym typeface="DM Sans"/>
              </a:rPr>
              <a:t>localized performance metrics</a:t>
            </a:r>
            <a:r>
              <a:rPr b="0" i="0" lang="en-US" sz="1500" u="none" cap="none" strike="noStrik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pic>
        <p:nvPicPr>
          <p:cNvPr descr="image.png" id="153" name="Google Shape;153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195512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04323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3890962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8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FOCUS: THE SOUTH KOREAN IMPACT</a:t>
            </a:r>
            <a:endParaRPr/>
          </a:p>
        </p:txBody>
      </p:sp>
      <p:sp>
        <p:nvSpPr>
          <p:cNvPr id="157" name="Google Shape;157;p18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2" name="Google Shape;16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/>
        </p:nvSpPr>
        <p:spPr>
          <a:xfrm>
            <a:off x="762000" y="571500"/>
            <a:ext cx="50006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UI/UX STRATEGY</a:t>
            </a:r>
            <a:endParaRPr/>
          </a:p>
        </p:txBody>
      </p:sp>
      <p:sp>
        <p:nvSpPr>
          <p:cNvPr id="164" name="Google Shape;164;p19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65" name="Google Shape;16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571500" y="2471737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E676"/>
                </a:solidFill>
                <a:latin typeface="DM Sans"/>
                <a:ea typeface="DM Sans"/>
                <a:cs typeface="DM Sans"/>
                <a:sym typeface="DM Sans"/>
              </a:rPr>
              <a:t>Interactive Visualization: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 Moving beyond tables with Radar Charts and Heatmaps to show player movement and skill-sets.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571500" y="3767137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E676"/>
                </a:solidFill>
                <a:latin typeface="DM Sans"/>
                <a:ea typeface="DM Sans"/>
                <a:cs typeface="DM Sans"/>
                <a:sym typeface="DM Sans"/>
              </a:rPr>
              <a:t>Mobile-First Design: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 Optimized for the "Second Screen" experience during live match weekends.</a:t>
            </a:r>
            <a:endParaRPr/>
          </a:p>
        </p:txBody>
      </p:sp>
      <p:sp>
        <p:nvSpPr>
          <p:cNvPr id="168" name="Google Shape;168;p19"/>
          <p:cNvSpPr txBox="1"/>
          <p:nvPr/>
        </p:nvSpPr>
        <p:spPr>
          <a:xfrm>
            <a:off x="571500" y="4757737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E676"/>
                </a:solidFill>
                <a:latin typeface="DM Sans"/>
                <a:ea typeface="DM Sans"/>
                <a:cs typeface="DM Sans"/>
                <a:sym typeface="DM Sans"/>
              </a:rPr>
              <a:t>Data Density: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 Balancing complex football metrics with clean, accessible design for casual and hardcore fans.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3" name="Google Shape;17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0"/>
          <p:cNvSpPr txBox="1"/>
          <p:nvPr/>
        </p:nvSpPr>
        <p:spPr>
          <a:xfrm>
            <a:off x="295275" y="1870769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00E676"/>
                </a:solidFill>
                <a:latin typeface="Urbanist"/>
                <a:ea typeface="Urbanist"/>
                <a:cs typeface="Urbanist"/>
                <a:sym typeface="Urbanist"/>
              </a:rPr>
              <a:t>Questions?</a:t>
            </a:r>
            <a:endParaRPr/>
          </a:p>
        </p:txBody>
      </p:sp>
      <p:sp>
        <p:nvSpPr>
          <p:cNvPr id="175" name="Google Shape;175;p20"/>
          <p:cNvSpPr txBox="1"/>
          <p:nvPr/>
        </p:nvSpPr>
        <p:spPr>
          <a:xfrm>
            <a:off x="571500" y="3318569"/>
            <a:ext cx="110490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Thank you for your interest in the EPL Global Stats Project.</a:t>
            </a:r>
            <a:endParaRPr/>
          </a:p>
        </p:txBody>
      </p:sp>
      <p:sp>
        <p:nvSpPr>
          <p:cNvPr id="176" name="Google Shape;176;p20"/>
          <p:cNvSpPr txBox="1"/>
          <p:nvPr/>
        </p:nvSpPr>
        <p:spPr>
          <a:xfrm>
            <a:off x="571500" y="449193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WWW.EPL-STATS-PROJECT.COM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1" name="Google Shape;18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1"/>
          <p:cNvSpPr/>
          <p:nvPr/>
        </p:nvSpPr>
        <p:spPr>
          <a:xfrm>
            <a:off x="571500" y="3016597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1"/>
          <p:cNvSpPr/>
          <p:nvPr/>
        </p:nvSpPr>
        <p:spPr>
          <a:xfrm>
            <a:off x="571500" y="398993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1"/>
          <p:cNvSpPr/>
          <p:nvPr/>
        </p:nvSpPr>
        <p:spPr>
          <a:xfrm>
            <a:off x="571500" y="398993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85" name="Google Shape;18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26514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1"/>
          <p:cNvSpPr txBox="1"/>
          <p:nvPr/>
        </p:nvSpPr>
        <p:spPr>
          <a:xfrm>
            <a:off x="1666875" y="3159472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https://media.gettyimages.com/id/2168259618/fr/photo/london-england-son-heung-min-of-tottenham-hotspur-celebrates-after-scoring-their-second-goal.jpg?s=612x612&amp;w=gi&amp;k=20&amp;c=GPqmHIJq_9i7GXogoQEGB3J-0tbSsNEbNeJ6wP7D6RM=</a:t>
            </a:r>
            <a:endParaRPr/>
          </a:p>
        </p:txBody>
      </p:sp>
      <p:sp>
        <p:nvSpPr>
          <p:cNvPr id="187" name="Google Shape;187;p21"/>
          <p:cNvSpPr txBox="1"/>
          <p:nvPr/>
        </p:nvSpPr>
        <p:spPr>
          <a:xfrm>
            <a:off x="1666875" y="3603277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www.gettyimages.fr</a:t>
            </a:r>
            <a:endParaRPr/>
          </a:p>
        </p:txBody>
      </p:sp>
      <p:pic>
        <p:nvPicPr>
          <p:cNvPr descr="image.png" id="188" name="Google Shape;188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14888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1"/>
          <p:cNvSpPr txBox="1"/>
          <p:nvPr/>
        </p:nvSpPr>
        <p:spPr>
          <a:xfrm>
            <a:off x="1666875" y="4142333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https://cdn.dribbble.com/userupload/45061726/file/still-cfc1804383dd4aa5a4b61b5341304c30.png?format=webp&amp;resize=400x300&amp;vertical=center</a:t>
            </a:r>
            <a:endParaRPr/>
          </a:p>
        </p:txBody>
      </p:sp>
      <p:sp>
        <p:nvSpPr>
          <p:cNvPr id="190" name="Google Shape;190;p21"/>
          <p:cNvSpPr txBox="1"/>
          <p:nvPr/>
        </p:nvSpPr>
        <p:spPr>
          <a:xfrm>
            <a:off x="1666875" y="4388048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DM Sans"/>
                <a:ea typeface="DM Sans"/>
                <a:cs typeface="DM Sans"/>
                <a:sym typeface="DM Sans"/>
              </a:rPr>
              <a:t>dribbble.com</a:t>
            </a:r>
            <a:endParaRPr/>
          </a:p>
        </p:txBody>
      </p:sp>
      <p:sp>
        <p:nvSpPr>
          <p:cNvPr id="191" name="Google Shape;191;p21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IMAGE SOURCES</a:t>
            </a:r>
            <a:endParaRPr/>
          </a:p>
        </p:txBody>
      </p:sp>
      <p:sp>
        <p:nvSpPr>
          <p:cNvPr id="192" name="Google Shape;192;p21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